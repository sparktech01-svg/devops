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NICE stands for Non-linear Independent Components Estimation. It is a generative machine learning model that learns the distribution of complex data. It transforms complex data into a simpler representation using reversible transformations, which means we can always go back from the simple form to the original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1) We start with complex input data. 2) We apply reversible transformations, the key idea of NICE. 3) The data becomes a simpler representation. 4) The model learns the probability distribution in that simpler space. 5) Because every step is reversible, we can transform back to generate new data or analyze existing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datasets, like bank transactions, have many features: amount, location, time, merchant and device. NICE learns the statistical distribution of such data. That helps us understand how likely or unusual a new sample is, and it can also be used to generate new data that looks like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bank with millions of past transactions such as Rs 500 in Bangalore on mobile. NICE learns the statistical patterns of these. When a new transaction of Rs 2,00,000 from a new location, a new device and an unusual time arrives, the model checks how well it fits the learned distribution. If it is highly unusual, it is flagged for further investigation. NICE does not automatically decide it is fraud; a human or another system reviews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NICE is useful across many fields: banking for anomaly detection, healthcare for medical data modeling, manufacturing for spotting unusual data, computer vision for image generation, and generative AI in general. To conclude: NICE learns complex data distributions using reversible transformations. It converts complex data into a simpler representation and can transform it back, which makes it useful for modeling, analysis, anomaly detection and generation.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365760"/>
          </a:xfrm>
          <a:prstGeom prst="rect">
            <a:avLst/>
          </a:prstGeom>
          <a:noFill/>
          <a:ln/>
        </p:spPr>
        <p:txBody>
          <a:bodyPr wrap="square" lIns="0" tIns="0" rIns="0" bIns="0" rtlCol="0" anchor="t"/>
          <a:lstStyle/>
          <a:p>
            <a:pPr indent="0" marL="0">
              <a:buNone/>
            </a:pPr>
            <a:r>
              <a:rPr lang="en-US" sz="1600" b="1" spc="200" kern="0" dirty="0">
                <a:solidFill>
                  <a:srgbClr val="C7D2FE"/>
                </a:solidFill>
                <a:latin typeface="Calibri" pitchFamily="34" charset="0"/>
                <a:ea typeface="Calibri" pitchFamily="34" charset="-122"/>
                <a:cs typeface="Calibri" pitchFamily="34" charset="-120"/>
              </a:rPr>
              <a:t>What is NICE?</a:t>
            </a:r>
            <a:endParaRPr lang="en-US" sz="1600" dirty="0"/>
          </a:p>
        </p:txBody>
      </p:sp>
      <p:sp>
        <p:nvSpPr>
          <p:cNvPr id="3" name="Text 1"/>
          <p:cNvSpPr txBox="1"/>
          <p:nvPr/>
        </p:nvSpPr>
        <p:spPr>
          <a:xfrm>
            <a:off x="457200" y="731520"/>
            <a:ext cx="8229600" cy="82296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NICE</a:t>
            </a:r>
            <a:endParaRPr lang="en-US" sz="5400" dirty="0"/>
          </a:p>
        </p:txBody>
      </p:sp>
      <p:sp>
        <p:nvSpPr>
          <p:cNvPr id="4" name="Text 2"/>
          <p:cNvSpPr txBox="1"/>
          <p:nvPr/>
        </p:nvSpPr>
        <p:spPr>
          <a:xfrm>
            <a:off x="457200" y="1508760"/>
            <a:ext cx="8229600" cy="457200"/>
          </a:xfrm>
          <a:prstGeom prst="rect">
            <a:avLst/>
          </a:prstGeom>
          <a:noFill/>
          <a:ln/>
        </p:spPr>
        <p:txBody>
          <a:bodyPr wrap="square" lIns="0" tIns="0" rIns="0" bIns="0" rtlCol="0" anchor="t"/>
          <a:lstStyle/>
          <a:p>
            <a:pPr indent="0" marL="0">
              <a:buNone/>
            </a:pPr>
            <a:r>
              <a:rPr lang="en-US" sz="2200" b="1" dirty="0">
                <a:solidFill>
                  <a:srgbClr val="A5B4FC"/>
                </a:solidFill>
                <a:latin typeface="Calibri" pitchFamily="34" charset="0"/>
                <a:ea typeface="Calibri" pitchFamily="34" charset="-122"/>
                <a:cs typeface="Calibri" pitchFamily="34" charset="-120"/>
              </a:rPr>
              <a:t>Non-linear Independent Components Estimation</a:t>
            </a:r>
            <a:endParaRPr lang="en-US" sz="2200" dirty="0"/>
          </a:p>
        </p:txBody>
      </p:sp>
      <p:sp>
        <p:nvSpPr>
          <p:cNvPr id="5" name="Text 3"/>
          <p:cNvSpPr txBox="1"/>
          <p:nvPr/>
        </p:nvSpPr>
        <p:spPr>
          <a:xfrm>
            <a:off x="731520" y="2286000"/>
            <a:ext cx="2316480" cy="914400"/>
          </a:xfrm>
          <a:prstGeom prst="roundRect">
            <a:avLst>
              <a:gd name="adj" fmla="val 12000"/>
            </a:avLst>
          </a:prstGeom>
          <a:solidFill>
            <a:srgbClr val="2563EB"/>
          </a:solidFill>
          <a:ln/>
        </p:spPr>
        <p:txBody>
          <a:bodyPr wrap="square" lIns="50800" tIns="50800" rIns="50800" bIns="508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Complex Data</a:t>
            </a:r>
            <a:endParaRPr lang="en-US" sz="1800" dirty="0"/>
          </a:p>
        </p:txBody>
      </p:sp>
      <p:sp>
        <p:nvSpPr>
          <p:cNvPr id="6" name="Shape 4"/>
          <p:cNvSpPr/>
          <p:nvPr/>
        </p:nvSpPr>
        <p:spPr>
          <a:xfrm>
            <a:off x="3084576" y="2606040"/>
            <a:ext cx="292608" cy="274320"/>
          </a:xfrm>
          <a:prstGeom prst="rightArrow">
            <a:avLst/>
          </a:prstGeom>
          <a:solidFill>
            <a:srgbClr val="F59E0B"/>
          </a:solidFill>
          <a:ln w="12700">
            <a:solidFill>
              <a:srgbClr val="F59E0B"/>
            </a:solidFill>
            <a:prstDash val="solid"/>
          </a:ln>
        </p:spPr>
      </p:sp>
      <p:sp>
        <p:nvSpPr>
          <p:cNvPr id="7" name="Text 5"/>
          <p:cNvSpPr txBox="1"/>
          <p:nvPr/>
        </p:nvSpPr>
        <p:spPr>
          <a:xfrm>
            <a:off x="3413760" y="2286000"/>
            <a:ext cx="2316480" cy="914400"/>
          </a:xfrm>
          <a:prstGeom prst="roundRect">
            <a:avLst>
              <a:gd name="adj" fmla="val 12000"/>
            </a:avLst>
          </a:prstGeom>
          <a:solidFill>
            <a:srgbClr val="7C3AED"/>
          </a:solidFill>
          <a:ln/>
        </p:spPr>
        <p:txBody>
          <a:bodyPr wrap="square" lIns="50800" tIns="50800" rIns="50800" bIns="508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NICE</a:t>
            </a:r>
            <a:endParaRPr lang="en-US" sz="1800" dirty="0"/>
          </a:p>
        </p:txBody>
      </p:sp>
      <p:sp>
        <p:nvSpPr>
          <p:cNvPr id="8" name="Shape 6"/>
          <p:cNvSpPr/>
          <p:nvPr/>
        </p:nvSpPr>
        <p:spPr>
          <a:xfrm>
            <a:off x="5766816" y="2606040"/>
            <a:ext cx="292608" cy="274320"/>
          </a:xfrm>
          <a:prstGeom prst="rightArrow">
            <a:avLst/>
          </a:prstGeom>
          <a:solidFill>
            <a:srgbClr val="F59E0B"/>
          </a:solidFill>
          <a:ln w="12700">
            <a:solidFill>
              <a:srgbClr val="F59E0B"/>
            </a:solidFill>
            <a:prstDash val="solid"/>
          </a:ln>
        </p:spPr>
      </p:sp>
      <p:sp>
        <p:nvSpPr>
          <p:cNvPr id="9" name="Text 7"/>
          <p:cNvSpPr txBox="1"/>
          <p:nvPr/>
        </p:nvSpPr>
        <p:spPr>
          <a:xfrm>
            <a:off x="6096000" y="2286000"/>
            <a:ext cx="2316480" cy="914400"/>
          </a:xfrm>
          <a:prstGeom prst="roundRect">
            <a:avLst>
              <a:gd name="adj" fmla="val 12000"/>
            </a:avLst>
          </a:prstGeom>
          <a:solidFill>
            <a:srgbClr val="4F46E5"/>
          </a:solidFill>
          <a:ln/>
        </p:spPr>
        <p:txBody>
          <a:bodyPr wrap="square" lIns="50800" tIns="50800" rIns="50800" bIns="508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Simple Representation</a:t>
            </a:r>
            <a:endParaRPr lang="en-US" sz="1800" dirty="0"/>
          </a:p>
        </p:txBody>
      </p:sp>
      <p:sp>
        <p:nvSpPr>
          <p:cNvPr id="10" name="Text 8"/>
          <p:cNvSpPr txBox="1"/>
          <p:nvPr/>
        </p:nvSpPr>
        <p:spPr>
          <a:xfrm>
            <a:off x="3048000" y="3246120"/>
            <a:ext cx="3048000" cy="274320"/>
          </a:xfrm>
          <a:prstGeom prst="rect">
            <a:avLst/>
          </a:prstGeom>
          <a:noFill/>
          <a:ln/>
        </p:spPr>
        <p:txBody>
          <a:bodyPr wrap="square" lIns="0" tIns="0" rIns="0" bIns="0" rtlCol="0" anchor="t"/>
          <a:lstStyle/>
          <a:p>
            <a:pPr algn="ctr" indent="0" marL="0">
              <a:buNone/>
            </a:pPr>
            <a:r>
              <a:rPr lang="en-US" sz="1200" b="1" dirty="0">
                <a:solidFill>
                  <a:srgbClr val="F59E0B"/>
                </a:solidFill>
                <a:latin typeface="Calibri" pitchFamily="34" charset="0"/>
                <a:ea typeface="Calibri" pitchFamily="34" charset="-122"/>
                <a:cs typeface="Calibri" pitchFamily="34" charset="-120"/>
              </a:rPr>
              <a:t>reversible in both directions</a:t>
            </a:r>
            <a:endParaRPr lang="en-US" sz="1200" dirty="0"/>
          </a:p>
        </p:txBody>
      </p:sp>
      <p:sp>
        <p:nvSpPr>
          <p:cNvPr id="11" name="Shape 9"/>
          <p:cNvSpPr/>
          <p:nvPr/>
        </p:nvSpPr>
        <p:spPr>
          <a:xfrm>
            <a:off x="457200" y="3703320"/>
            <a:ext cx="2560320" cy="1005840"/>
          </a:xfrm>
          <a:prstGeom prst="roundRect">
            <a:avLst>
              <a:gd name="adj" fmla="val 10909"/>
            </a:avLst>
          </a:prstGeom>
          <a:solidFill>
            <a:srgbClr val="1E2A78"/>
          </a:solidFill>
          <a:ln w="12700">
            <a:solidFill>
              <a:srgbClr val="1E2A78"/>
            </a:solidFill>
            <a:prstDash val="solid"/>
          </a:ln>
        </p:spPr>
      </p:sp>
      <p:sp>
        <p:nvSpPr>
          <p:cNvPr id="12" name="Text 10"/>
          <p:cNvSpPr txBox="1"/>
          <p:nvPr/>
        </p:nvSpPr>
        <p:spPr>
          <a:xfrm>
            <a:off x="594360" y="3794760"/>
            <a:ext cx="228600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Generative ML model</a:t>
            </a:r>
            <a:endParaRPr lang="en-US" sz="1200" dirty="0"/>
          </a:p>
          <a:p>
            <a:pPr indent="0" marL="0">
              <a:buNone/>
            </a:pPr>
            <a:r>
              <a:rPr lang="en-US" sz="1200" dirty="0">
                <a:solidFill>
                  <a:srgbClr val="C7D2FE"/>
                </a:solidFill>
                <a:latin typeface="Calibri" pitchFamily="34" charset="0"/>
                <a:ea typeface="Calibri" pitchFamily="34" charset="-122"/>
                <a:cs typeface="Calibri" pitchFamily="34" charset="-120"/>
              </a:rPr>
              <a:t>Learns how complex data is distributed</a:t>
            </a:r>
            <a:endParaRPr lang="en-US" sz="1200" dirty="0"/>
          </a:p>
        </p:txBody>
      </p:sp>
      <p:sp>
        <p:nvSpPr>
          <p:cNvPr id="13" name="Shape 11"/>
          <p:cNvSpPr/>
          <p:nvPr/>
        </p:nvSpPr>
        <p:spPr>
          <a:xfrm>
            <a:off x="3291840" y="3703320"/>
            <a:ext cx="2560320" cy="1005840"/>
          </a:xfrm>
          <a:prstGeom prst="roundRect">
            <a:avLst>
              <a:gd name="adj" fmla="val 10909"/>
            </a:avLst>
          </a:prstGeom>
          <a:solidFill>
            <a:srgbClr val="1E2A78"/>
          </a:solidFill>
          <a:ln w="12700">
            <a:solidFill>
              <a:srgbClr val="1E2A78"/>
            </a:solidFill>
            <a:prstDash val="solid"/>
          </a:ln>
        </p:spPr>
      </p:sp>
      <p:sp>
        <p:nvSpPr>
          <p:cNvPr id="14" name="Text 12"/>
          <p:cNvSpPr txBox="1"/>
          <p:nvPr/>
        </p:nvSpPr>
        <p:spPr>
          <a:xfrm>
            <a:off x="3429000" y="3794760"/>
            <a:ext cx="228600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Simpler representation</a:t>
            </a:r>
            <a:endParaRPr lang="en-US" sz="1200" dirty="0"/>
          </a:p>
          <a:p>
            <a:pPr indent="0" marL="0">
              <a:buNone/>
            </a:pPr>
            <a:r>
              <a:rPr lang="en-US" sz="1200" dirty="0">
                <a:solidFill>
                  <a:srgbClr val="C7D2FE"/>
                </a:solidFill>
                <a:latin typeface="Calibri" pitchFamily="34" charset="0"/>
                <a:ea typeface="Calibri" pitchFamily="34" charset="-122"/>
                <a:cs typeface="Calibri" pitchFamily="34" charset="-120"/>
              </a:rPr>
              <a:t>Complex data is transformed into a simple form</a:t>
            </a:r>
            <a:endParaRPr lang="en-US" sz="1200" dirty="0"/>
          </a:p>
        </p:txBody>
      </p:sp>
      <p:sp>
        <p:nvSpPr>
          <p:cNvPr id="15" name="Shape 13"/>
          <p:cNvSpPr/>
          <p:nvPr/>
        </p:nvSpPr>
        <p:spPr>
          <a:xfrm>
            <a:off x="6126480" y="3703320"/>
            <a:ext cx="2560320" cy="1005840"/>
          </a:xfrm>
          <a:prstGeom prst="roundRect">
            <a:avLst>
              <a:gd name="adj" fmla="val 10909"/>
            </a:avLst>
          </a:prstGeom>
          <a:solidFill>
            <a:srgbClr val="1E2A78"/>
          </a:solidFill>
          <a:ln w="12700">
            <a:solidFill>
              <a:srgbClr val="1E2A78"/>
            </a:solidFill>
            <a:prstDash val="solid"/>
          </a:ln>
        </p:spPr>
      </p:sp>
      <p:sp>
        <p:nvSpPr>
          <p:cNvPr id="16" name="Text 14"/>
          <p:cNvSpPr txBox="1"/>
          <p:nvPr/>
        </p:nvSpPr>
        <p:spPr>
          <a:xfrm>
            <a:off x="6263640" y="3794760"/>
            <a:ext cx="228600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Reversible</a:t>
            </a:r>
            <a:endParaRPr lang="en-US" sz="1200" dirty="0"/>
          </a:p>
          <a:p>
            <a:pPr indent="0" marL="0">
              <a:buNone/>
            </a:pPr>
            <a:r>
              <a:rPr lang="en-US" sz="1200" dirty="0">
                <a:solidFill>
                  <a:srgbClr val="C7D2FE"/>
                </a:solidFill>
                <a:latin typeface="Calibri" pitchFamily="34" charset="0"/>
                <a:ea typeface="Calibri" pitchFamily="34" charset="-122"/>
                <a:cs typeface="Calibri" pitchFamily="34" charset="-120"/>
              </a:rPr>
              <a:t>The transformation can be undone exactly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3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How Does NICE Work?</a:t>
            </a:r>
            <a:endParaRPr lang="en-US" sz="3200" dirty="0"/>
          </a:p>
        </p:txBody>
      </p:sp>
      <p:sp>
        <p:nvSpPr>
          <p:cNvPr id="3" name="Text 1"/>
          <p:cNvSpPr txBox="1"/>
          <p:nvPr/>
        </p:nvSpPr>
        <p:spPr>
          <a:xfrm>
            <a:off x="457200" y="1508760"/>
            <a:ext cx="1353312" cy="1005840"/>
          </a:xfrm>
          <a:prstGeom prst="roundRect">
            <a:avLst>
              <a:gd name="adj" fmla="val 10909"/>
            </a:avLst>
          </a:prstGeom>
          <a:solidFill>
            <a:srgbClr val="2563EB"/>
          </a:solidFill>
          <a:ln/>
        </p:spPr>
        <p:txBody>
          <a:bodyPr wrap="square" lIns="50800" tIns="50800" rIns="508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Complex Data</a:t>
            </a:r>
            <a:endParaRPr lang="en-US" sz="1400" dirty="0"/>
          </a:p>
        </p:txBody>
      </p:sp>
      <p:sp>
        <p:nvSpPr>
          <p:cNvPr id="4" name="Shape 2"/>
          <p:cNvSpPr/>
          <p:nvPr/>
        </p:nvSpPr>
        <p:spPr>
          <a:xfrm>
            <a:off x="1847088" y="1874520"/>
            <a:ext cx="292608" cy="274320"/>
          </a:xfrm>
          <a:prstGeom prst="rightArrow">
            <a:avLst/>
          </a:prstGeom>
          <a:solidFill>
            <a:srgbClr val="4F46E5"/>
          </a:solidFill>
          <a:ln w="12700">
            <a:solidFill>
              <a:srgbClr val="4F46E5"/>
            </a:solidFill>
            <a:prstDash val="solid"/>
          </a:ln>
        </p:spPr>
      </p:sp>
      <p:sp>
        <p:nvSpPr>
          <p:cNvPr id="5" name="Text 3"/>
          <p:cNvSpPr txBox="1"/>
          <p:nvPr/>
        </p:nvSpPr>
        <p:spPr>
          <a:xfrm>
            <a:off x="2176272" y="1508760"/>
            <a:ext cx="1353312" cy="1005840"/>
          </a:xfrm>
          <a:prstGeom prst="roundRect">
            <a:avLst>
              <a:gd name="adj" fmla="val 10909"/>
            </a:avLst>
          </a:prstGeom>
          <a:solidFill>
            <a:srgbClr val="F59E0B"/>
          </a:solidFill>
          <a:ln/>
        </p:spPr>
        <p:txBody>
          <a:bodyPr wrap="square" lIns="50800" tIns="50800" rIns="50800" bIns="50800" rtlCol="0" anchor="ctr"/>
          <a:lstStyle/>
          <a:p>
            <a:pPr algn="ctr" indent="0" marL="0">
              <a:buNone/>
            </a:pPr>
            <a:r>
              <a:rPr lang="en-US" sz="1400" b="1" dirty="0">
                <a:solidFill>
                  <a:srgbClr val="1E1B4B"/>
                </a:solidFill>
                <a:latin typeface="Calibri" pitchFamily="34" charset="0"/>
                <a:ea typeface="Calibri" pitchFamily="34" charset="-122"/>
                <a:cs typeface="Calibri" pitchFamily="34" charset="-120"/>
              </a:rPr>
              <a:t>Reversible Transformation</a:t>
            </a:r>
            <a:endParaRPr lang="en-US" sz="1400" dirty="0"/>
          </a:p>
        </p:txBody>
      </p:sp>
      <p:sp>
        <p:nvSpPr>
          <p:cNvPr id="6" name="Shape 4"/>
          <p:cNvSpPr/>
          <p:nvPr/>
        </p:nvSpPr>
        <p:spPr>
          <a:xfrm>
            <a:off x="3566160" y="1874520"/>
            <a:ext cx="292608" cy="274320"/>
          </a:xfrm>
          <a:prstGeom prst="rightArrow">
            <a:avLst/>
          </a:prstGeom>
          <a:solidFill>
            <a:srgbClr val="4F46E5"/>
          </a:solidFill>
          <a:ln w="12700">
            <a:solidFill>
              <a:srgbClr val="4F46E5"/>
            </a:solidFill>
            <a:prstDash val="solid"/>
          </a:ln>
        </p:spPr>
      </p:sp>
      <p:sp>
        <p:nvSpPr>
          <p:cNvPr id="7" name="Text 5"/>
          <p:cNvSpPr txBox="1"/>
          <p:nvPr/>
        </p:nvSpPr>
        <p:spPr>
          <a:xfrm>
            <a:off x="3895344" y="1508760"/>
            <a:ext cx="1353312" cy="1005840"/>
          </a:xfrm>
          <a:prstGeom prst="roundRect">
            <a:avLst>
              <a:gd name="adj" fmla="val 10909"/>
            </a:avLst>
          </a:prstGeom>
          <a:solidFill>
            <a:srgbClr val="7C3AED"/>
          </a:solidFill>
          <a:ln/>
        </p:spPr>
        <p:txBody>
          <a:bodyPr wrap="square" lIns="50800" tIns="50800" rIns="508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Simple Representation</a:t>
            </a:r>
            <a:endParaRPr lang="en-US" sz="1400" dirty="0"/>
          </a:p>
        </p:txBody>
      </p:sp>
      <p:sp>
        <p:nvSpPr>
          <p:cNvPr id="8" name="Shape 6"/>
          <p:cNvSpPr/>
          <p:nvPr/>
        </p:nvSpPr>
        <p:spPr>
          <a:xfrm>
            <a:off x="5285232" y="1874520"/>
            <a:ext cx="292608" cy="274320"/>
          </a:xfrm>
          <a:prstGeom prst="rightArrow">
            <a:avLst/>
          </a:prstGeom>
          <a:solidFill>
            <a:srgbClr val="4F46E5"/>
          </a:solidFill>
          <a:ln w="12700">
            <a:solidFill>
              <a:srgbClr val="4F46E5"/>
            </a:solidFill>
            <a:prstDash val="solid"/>
          </a:ln>
        </p:spPr>
      </p:sp>
      <p:sp>
        <p:nvSpPr>
          <p:cNvPr id="9" name="Text 7"/>
          <p:cNvSpPr txBox="1"/>
          <p:nvPr/>
        </p:nvSpPr>
        <p:spPr>
          <a:xfrm>
            <a:off x="5614416" y="1508760"/>
            <a:ext cx="1353312" cy="1005840"/>
          </a:xfrm>
          <a:prstGeom prst="roundRect">
            <a:avLst>
              <a:gd name="adj" fmla="val 10909"/>
            </a:avLst>
          </a:prstGeom>
          <a:solidFill>
            <a:srgbClr val="2563EB"/>
          </a:solidFill>
          <a:ln/>
        </p:spPr>
        <p:txBody>
          <a:bodyPr wrap="square" lIns="50800" tIns="50800" rIns="508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Learn Probability Distribution</a:t>
            </a:r>
            <a:endParaRPr lang="en-US" sz="1400" dirty="0"/>
          </a:p>
        </p:txBody>
      </p:sp>
      <p:sp>
        <p:nvSpPr>
          <p:cNvPr id="10" name="Shape 8"/>
          <p:cNvSpPr/>
          <p:nvPr/>
        </p:nvSpPr>
        <p:spPr>
          <a:xfrm>
            <a:off x="7004304" y="1874520"/>
            <a:ext cx="292608" cy="274320"/>
          </a:xfrm>
          <a:prstGeom prst="rightArrow">
            <a:avLst/>
          </a:prstGeom>
          <a:solidFill>
            <a:srgbClr val="4F46E5"/>
          </a:solidFill>
          <a:ln w="12700">
            <a:solidFill>
              <a:srgbClr val="4F46E5"/>
            </a:solidFill>
            <a:prstDash val="solid"/>
          </a:ln>
        </p:spPr>
      </p:sp>
      <p:sp>
        <p:nvSpPr>
          <p:cNvPr id="11" name="Text 9"/>
          <p:cNvSpPr txBox="1"/>
          <p:nvPr/>
        </p:nvSpPr>
        <p:spPr>
          <a:xfrm>
            <a:off x="7333488" y="1508760"/>
            <a:ext cx="1353312" cy="1005840"/>
          </a:xfrm>
          <a:prstGeom prst="roundRect">
            <a:avLst>
              <a:gd name="adj" fmla="val 10909"/>
            </a:avLst>
          </a:prstGeom>
          <a:solidFill>
            <a:srgbClr val="4F46E5"/>
          </a:solidFill>
          <a:ln/>
        </p:spPr>
        <p:txBody>
          <a:bodyPr wrap="square" lIns="50800" tIns="50800" rIns="50800" bIns="508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Generate / Analyze Data</a:t>
            </a:r>
            <a:endParaRPr lang="en-US" sz="1400" dirty="0"/>
          </a:p>
        </p:txBody>
      </p:sp>
      <p:sp>
        <p:nvSpPr>
          <p:cNvPr id="12" name="Shape 10"/>
          <p:cNvSpPr/>
          <p:nvPr/>
        </p:nvSpPr>
        <p:spPr>
          <a:xfrm>
            <a:off x="950976" y="1051560"/>
            <a:ext cx="365760" cy="365760"/>
          </a:xfrm>
          <a:prstGeom prst="ellipse">
            <a:avLst/>
          </a:prstGeom>
          <a:solidFill>
            <a:srgbClr val="4F46E5"/>
          </a:solidFill>
          <a:ln w="12700">
            <a:solidFill>
              <a:srgbClr val="4F46E5"/>
            </a:solidFill>
            <a:prstDash val="solid"/>
          </a:ln>
        </p:spPr>
      </p:sp>
      <p:sp>
        <p:nvSpPr>
          <p:cNvPr id="13" name="Text 11"/>
          <p:cNvSpPr txBox="1"/>
          <p:nvPr/>
        </p:nvSpPr>
        <p:spPr>
          <a:xfrm>
            <a:off x="950976" y="1051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2"/>
          <p:cNvSpPr txBox="1"/>
          <p:nvPr/>
        </p:nvSpPr>
        <p:spPr>
          <a:xfrm>
            <a:off x="457200" y="2651760"/>
            <a:ext cx="1353312" cy="640080"/>
          </a:xfrm>
          <a:prstGeom prst="rect">
            <a:avLst/>
          </a:prstGeom>
          <a:noFill/>
          <a:ln/>
        </p:spPr>
        <p:txBody>
          <a:bodyPr wrap="square" lIns="0" tIns="0" rIns="0" bIns="0" rtlCol="0" anchor="t"/>
          <a:lstStyle/>
          <a:p>
            <a:pPr algn="ctr" indent="0" marL="0">
              <a:buNone/>
            </a:pPr>
            <a:r>
              <a:rPr lang="en-US" sz="1300" dirty="0">
                <a:solidFill>
                  <a:srgbClr val="4B5563"/>
                </a:solidFill>
                <a:latin typeface="Calibri" pitchFamily="34" charset="0"/>
                <a:ea typeface="Calibri" pitchFamily="34" charset="-122"/>
                <a:cs typeface="Calibri" pitchFamily="34" charset="-120"/>
              </a:rPr>
              <a:t>Input raw, complex data</a:t>
            </a:r>
            <a:endParaRPr lang="en-US" sz="1300" dirty="0"/>
          </a:p>
        </p:txBody>
      </p:sp>
      <p:sp>
        <p:nvSpPr>
          <p:cNvPr id="15" name="Shape 13"/>
          <p:cNvSpPr/>
          <p:nvPr/>
        </p:nvSpPr>
        <p:spPr>
          <a:xfrm>
            <a:off x="2670048" y="1051560"/>
            <a:ext cx="365760" cy="365760"/>
          </a:xfrm>
          <a:prstGeom prst="ellipse">
            <a:avLst/>
          </a:prstGeom>
          <a:solidFill>
            <a:srgbClr val="F59E0B"/>
          </a:solidFill>
          <a:ln w="12700">
            <a:solidFill>
              <a:srgbClr val="F59E0B"/>
            </a:solidFill>
            <a:prstDash val="solid"/>
          </a:ln>
        </p:spPr>
      </p:sp>
      <p:sp>
        <p:nvSpPr>
          <p:cNvPr id="16" name="Text 14"/>
          <p:cNvSpPr txBox="1"/>
          <p:nvPr/>
        </p:nvSpPr>
        <p:spPr>
          <a:xfrm>
            <a:off x="2670048" y="1051560"/>
            <a:ext cx="365760" cy="365760"/>
          </a:xfrm>
          <a:prstGeom prst="rect">
            <a:avLst/>
          </a:prstGeom>
          <a:noFill/>
          <a:ln/>
        </p:spPr>
        <p:txBody>
          <a:bodyPr wrap="square" lIns="0" tIns="0" rIns="0" bIns="0" rtlCol="0" anchor="ctr"/>
          <a:lstStyle/>
          <a:p>
            <a:pPr algn="ctr" indent="0" marL="0">
              <a:buNone/>
            </a:pPr>
            <a:r>
              <a:rPr lang="en-US" sz="1400" b="1" dirty="0">
                <a:solidFill>
                  <a:srgbClr val="1E1B4B"/>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2176272" y="2651760"/>
            <a:ext cx="1353312" cy="640080"/>
          </a:xfrm>
          <a:prstGeom prst="rect">
            <a:avLst/>
          </a:prstGeom>
          <a:noFill/>
          <a:ln/>
        </p:spPr>
        <p:txBody>
          <a:bodyPr wrap="square" lIns="0" tIns="0" rIns="0" bIns="0" rtlCol="0" anchor="t"/>
          <a:lstStyle/>
          <a:p>
            <a:pPr algn="ctr" indent="0" marL="0">
              <a:buNone/>
            </a:pPr>
            <a:r>
              <a:rPr lang="en-US" sz="1300" dirty="0">
                <a:solidFill>
                  <a:srgbClr val="4B5563"/>
                </a:solidFill>
                <a:latin typeface="Calibri" pitchFamily="34" charset="0"/>
                <a:ea typeface="Calibri" pitchFamily="34" charset="-122"/>
                <a:cs typeface="Calibri" pitchFamily="34" charset="-120"/>
              </a:rPr>
              <a:t>Apply invertible layers</a:t>
            </a:r>
            <a:endParaRPr lang="en-US" sz="1300" dirty="0"/>
          </a:p>
        </p:txBody>
      </p:sp>
      <p:sp>
        <p:nvSpPr>
          <p:cNvPr id="18" name="Shape 16"/>
          <p:cNvSpPr/>
          <p:nvPr/>
        </p:nvSpPr>
        <p:spPr>
          <a:xfrm>
            <a:off x="4389120" y="1051560"/>
            <a:ext cx="365760" cy="365760"/>
          </a:xfrm>
          <a:prstGeom prst="ellipse">
            <a:avLst/>
          </a:prstGeom>
          <a:solidFill>
            <a:srgbClr val="4F46E5"/>
          </a:solidFill>
          <a:ln w="12700">
            <a:solidFill>
              <a:srgbClr val="4F46E5"/>
            </a:solidFill>
            <a:prstDash val="solid"/>
          </a:ln>
        </p:spPr>
      </p:sp>
      <p:sp>
        <p:nvSpPr>
          <p:cNvPr id="19" name="Text 17"/>
          <p:cNvSpPr txBox="1"/>
          <p:nvPr/>
        </p:nvSpPr>
        <p:spPr>
          <a:xfrm>
            <a:off x="4389120" y="1051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3895344" y="2651760"/>
            <a:ext cx="1353312" cy="640080"/>
          </a:xfrm>
          <a:prstGeom prst="rect">
            <a:avLst/>
          </a:prstGeom>
          <a:noFill/>
          <a:ln/>
        </p:spPr>
        <p:txBody>
          <a:bodyPr wrap="square" lIns="0" tIns="0" rIns="0" bIns="0" rtlCol="0" anchor="t"/>
          <a:lstStyle/>
          <a:p>
            <a:pPr algn="ctr" indent="0" marL="0">
              <a:buNone/>
            </a:pPr>
            <a:r>
              <a:rPr lang="en-US" sz="1300" dirty="0">
                <a:solidFill>
                  <a:srgbClr val="4B5563"/>
                </a:solidFill>
                <a:latin typeface="Calibri" pitchFamily="34" charset="0"/>
                <a:ea typeface="Calibri" pitchFamily="34" charset="-122"/>
                <a:cs typeface="Calibri" pitchFamily="34" charset="-120"/>
              </a:rPr>
              <a:t>Data becomes simpler</a:t>
            </a:r>
            <a:endParaRPr lang="en-US" sz="1300" dirty="0"/>
          </a:p>
        </p:txBody>
      </p:sp>
      <p:sp>
        <p:nvSpPr>
          <p:cNvPr id="21" name="Shape 19"/>
          <p:cNvSpPr/>
          <p:nvPr/>
        </p:nvSpPr>
        <p:spPr>
          <a:xfrm>
            <a:off x="6108192" y="1051560"/>
            <a:ext cx="365760" cy="365760"/>
          </a:xfrm>
          <a:prstGeom prst="ellipse">
            <a:avLst/>
          </a:prstGeom>
          <a:solidFill>
            <a:srgbClr val="4F46E5"/>
          </a:solidFill>
          <a:ln w="12700">
            <a:solidFill>
              <a:srgbClr val="4F46E5"/>
            </a:solidFill>
            <a:prstDash val="solid"/>
          </a:ln>
        </p:spPr>
      </p:sp>
      <p:sp>
        <p:nvSpPr>
          <p:cNvPr id="22" name="Text 20"/>
          <p:cNvSpPr txBox="1"/>
          <p:nvPr/>
        </p:nvSpPr>
        <p:spPr>
          <a:xfrm>
            <a:off x="6108192" y="1051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614416" y="2651760"/>
            <a:ext cx="1353312" cy="640080"/>
          </a:xfrm>
          <a:prstGeom prst="rect">
            <a:avLst/>
          </a:prstGeom>
          <a:noFill/>
          <a:ln/>
        </p:spPr>
        <p:txBody>
          <a:bodyPr wrap="square" lIns="0" tIns="0" rIns="0" bIns="0" rtlCol="0" anchor="t"/>
          <a:lstStyle/>
          <a:p>
            <a:pPr algn="ctr" indent="0" marL="0">
              <a:buNone/>
            </a:pPr>
            <a:r>
              <a:rPr lang="en-US" sz="1300" dirty="0">
                <a:solidFill>
                  <a:srgbClr val="4B5563"/>
                </a:solidFill>
                <a:latin typeface="Calibri" pitchFamily="34" charset="0"/>
                <a:ea typeface="Calibri" pitchFamily="34" charset="-122"/>
                <a:cs typeface="Calibri" pitchFamily="34" charset="-120"/>
              </a:rPr>
              <a:t>Model the simple space</a:t>
            </a:r>
            <a:endParaRPr lang="en-US" sz="1300" dirty="0"/>
          </a:p>
        </p:txBody>
      </p:sp>
      <p:sp>
        <p:nvSpPr>
          <p:cNvPr id="24" name="Shape 22"/>
          <p:cNvSpPr/>
          <p:nvPr/>
        </p:nvSpPr>
        <p:spPr>
          <a:xfrm>
            <a:off x="7827264" y="1051560"/>
            <a:ext cx="365760" cy="365760"/>
          </a:xfrm>
          <a:prstGeom prst="ellipse">
            <a:avLst/>
          </a:prstGeom>
          <a:solidFill>
            <a:srgbClr val="4F46E5"/>
          </a:solidFill>
          <a:ln w="12700">
            <a:solidFill>
              <a:srgbClr val="4F46E5"/>
            </a:solidFill>
            <a:prstDash val="solid"/>
          </a:ln>
        </p:spPr>
      </p:sp>
      <p:sp>
        <p:nvSpPr>
          <p:cNvPr id="25" name="Text 23"/>
          <p:cNvSpPr txBox="1"/>
          <p:nvPr/>
        </p:nvSpPr>
        <p:spPr>
          <a:xfrm>
            <a:off x="7827264" y="1051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7333488" y="2651760"/>
            <a:ext cx="1353312" cy="640080"/>
          </a:xfrm>
          <a:prstGeom prst="rect">
            <a:avLst/>
          </a:prstGeom>
          <a:noFill/>
          <a:ln/>
        </p:spPr>
        <p:txBody>
          <a:bodyPr wrap="square" lIns="0" tIns="0" rIns="0" bIns="0" rtlCol="0" anchor="t"/>
          <a:lstStyle/>
          <a:p>
            <a:pPr algn="ctr" indent="0" marL="0">
              <a:buNone/>
            </a:pPr>
            <a:r>
              <a:rPr lang="en-US" sz="1300" dirty="0">
                <a:solidFill>
                  <a:srgbClr val="4B5563"/>
                </a:solidFill>
                <a:latin typeface="Calibri" pitchFamily="34" charset="0"/>
                <a:ea typeface="Calibri" pitchFamily="34" charset="-122"/>
                <a:cs typeface="Calibri" pitchFamily="34" charset="-120"/>
              </a:rPr>
              <a:t>Run in reverse to generate</a:t>
            </a:r>
            <a:endParaRPr lang="en-US" sz="1300" dirty="0"/>
          </a:p>
        </p:txBody>
      </p:sp>
      <p:sp>
        <p:nvSpPr>
          <p:cNvPr id="27" name="Shape 25"/>
          <p:cNvSpPr/>
          <p:nvPr/>
        </p:nvSpPr>
        <p:spPr>
          <a:xfrm>
            <a:off x="457200" y="3520440"/>
            <a:ext cx="8229600" cy="1097280"/>
          </a:xfrm>
          <a:prstGeom prst="roundRect">
            <a:avLst>
              <a:gd name="adj" fmla="val 12500"/>
            </a:avLst>
          </a:prstGeom>
          <a:solidFill>
            <a:srgbClr val="FFFFFF"/>
          </a:solidFill>
          <a:ln w="25400">
            <a:solidFill>
              <a:srgbClr val="F59E0B"/>
            </a:solidFill>
            <a:prstDash val="solid"/>
          </a:ln>
        </p:spPr>
      </p:sp>
      <p:sp>
        <p:nvSpPr>
          <p:cNvPr id="28" name="Text 26"/>
          <p:cNvSpPr txBox="1"/>
          <p:nvPr/>
        </p:nvSpPr>
        <p:spPr>
          <a:xfrm>
            <a:off x="731520" y="3657600"/>
            <a:ext cx="7680960" cy="822960"/>
          </a:xfrm>
          <a:prstGeom prst="rect">
            <a:avLst/>
          </a:prstGeom>
          <a:noFill/>
          <a:ln/>
        </p:spPr>
        <p:txBody>
          <a:bodyPr wrap="square" lIns="0" tIns="0" rIns="0" bIns="0" rtlCol="0" anchor="ctr"/>
          <a:lstStyle/>
          <a:p>
            <a:pPr indent="0" marL="0">
              <a:buNone/>
            </a:pPr>
            <a:r>
              <a:rPr lang="en-US" sz="2000" b="1" dirty="0">
                <a:solidFill>
                  <a:srgbClr val="1E1B4B"/>
                </a:solidFill>
                <a:latin typeface="Calibri" pitchFamily="34" charset="0"/>
                <a:ea typeface="Calibri" pitchFamily="34" charset="-122"/>
                <a:cs typeface="Calibri" pitchFamily="34" charset="-120"/>
              </a:rPr>
              <a:t>Key concept: Reversible Transformation</a:t>
            </a:r>
            <a:endParaRPr lang="en-US" sz="1500" dirty="0"/>
          </a:p>
          <a:p>
            <a:pPr indent="0" marL="0">
              <a:buNone/>
            </a:pPr>
            <a:r>
              <a:rPr lang="en-US" sz="1500" dirty="0">
                <a:solidFill>
                  <a:srgbClr val="4B5563"/>
                </a:solidFill>
                <a:latin typeface="Calibri" pitchFamily="34" charset="0"/>
                <a:ea typeface="Calibri" pitchFamily="34" charset="-122"/>
                <a:cs typeface="Calibri" pitchFamily="34" charset="-120"/>
              </a:rPr>
              <a:t>Every step can be undone, so we can go from data to a simple form and back to data.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3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Why is NICE Useful?</a:t>
            </a:r>
            <a:endParaRPr lang="en-US" sz="3200" dirty="0"/>
          </a:p>
        </p:txBody>
      </p:sp>
      <p:sp>
        <p:nvSpPr>
          <p:cNvPr id="3" name="Text 1"/>
          <p:cNvSpPr txBox="1"/>
          <p:nvPr/>
        </p:nvSpPr>
        <p:spPr>
          <a:xfrm>
            <a:off x="457200" y="1097280"/>
            <a:ext cx="3931920" cy="320040"/>
          </a:xfrm>
          <a:prstGeom prst="rect">
            <a:avLst/>
          </a:prstGeom>
          <a:noFill/>
          <a:ln/>
        </p:spPr>
        <p:txBody>
          <a:bodyPr wrap="square" lIns="0" tIns="0" rIns="0" bIns="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One banking transaction has many features</a:t>
            </a:r>
            <a:endParaRPr lang="en-US" sz="1500" dirty="0"/>
          </a:p>
        </p:txBody>
      </p:sp>
      <p:sp>
        <p:nvSpPr>
          <p:cNvPr id="4" name="Text 2"/>
          <p:cNvSpPr txBox="1"/>
          <p:nvPr/>
        </p:nvSpPr>
        <p:spPr>
          <a:xfrm>
            <a:off x="457200" y="1508760"/>
            <a:ext cx="3931920" cy="365760"/>
          </a:xfrm>
          <a:prstGeom prst="roundRect">
            <a:avLst>
              <a:gd name="adj" fmla="val 30000"/>
            </a:avLst>
          </a:prstGeom>
          <a:solidFill>
            <a:srgbClr val="FFFFFF"/>
          </a:solidFill>
          <a:ln w="12700">
            <a:solidFill>
              <a:srgbClr val="C7D2FE"/>
            </a:solidFill>
          </a:ln>
        </p:spPr>
        <p:txBody>
          <a:bodyPr wrap="square" lIns="127000" tIns="127000" rIns="127000" bIns="127000" rtlCol="0" anchor="ctr"/>
          <a:lstStyle/>
          <a:p>
            <a:pPr algn="l" indent="0" marL="0">
              <a:buNone/>
            </a:pPr>
            <a:r>
              <a:rPr lang="en-US" sz="1400" b="1" dirty="0">
                <a:solidFill>
                  <a:srgbClr val="1E1B4B"/>
                </a:solidFill>
                <a:latin typeface="Calibri" pitchFamily="34" charset="0"/>
                <a:ea typeface="Calibri" pitchFamily="34" charset="-122"/>
                <a:cs typeface="Calibri" pitchFamily="34" charset="-120"/>
              </a:rPr>
              <a:t>Transaction amount</a:t>
            </a:r>
            <a:endParaRPr lang="en-US" sz="1400" dirty="0"/>
          </a:p>
        </p:txBody>
      </p:sp>
      <p:sp>
        <p:nvSpPr>
          <p:cNvPr id="5" name="Text 3"/>
          <p:cNvSpPr txBox="1"/>
          <p:nvPr/>
        </p:nvSpPr>
        <p:spPr>
          <a:xfrm>
            <a:off x="457200" y="1938528"/>
            <a:ext cx="3931920" cy="365760"/>
          </a:xfrm>
          <a:prstGeom prst="roundRect">
            <a:avLst>
              <a:gd name="adj" fmla="val 30000"/>
            </a:avLst>
          </a:prstGeom>
          <a:solidFill>
            <a:srgbClr val="FFFFFF"/>
          </a:solidFill>
          <a:ln w="12700">
            <a:solidFill>
              <a:srgbClr val="C7D2FE"/>
            </a:solidFill>
          </a:ln>
        </p:spPr>
        <p:txBody>
          <a:bodyPr wrap="square" lIns="127000" tIns="127000" rIns="127000" bIns="127000" rtlCol="0" anchor="ctr"/>
          <a:lstStyle/>
          <a:p>
            <a:pPr algn="l" indent="0" marL="0">
              <a:buNone/>
            </a:pPr>
            <a:r>
              <a:rPr lang="en-US" sz="1400" b="1" dirty="0">
                <a:solidFill>
                  <a:srgbClr val="1E1B4B"/>
                </a:solidFill>
                <a:latin typeface="Calibri" pitchFamily="34" charset="0"/>
                <a:ea typeface="Calibri" pitchFamily="34" charset="-122"/>
                <a:cs typeface="Calibri" pitchFamily="34" charset="-120"/>
              </a:rPr>
              <a:t>Location</a:t>
            </a:r>
            <a:endParaRPr lang="en-US" sz="1400" dirty="0"/>
          </a:p>
        </p:txBody>
      </p:sp>
      <p:sp>
        <p:nvSpPr>
          <p:cNvPr id="6" name="Text 4"/>
          <p:cNvSpPr txBox="1"/>
          <p:nvPr/>
        </p:nvSpPr>
        <p:spPr>
          <a:xfrm>
            <a:off x="457200" y="2368296"/>
            <a:ext cx="3931920" cy="365760"/>
          </a:xfrm>
          <a:prstGeom prst="roundRect">
            <a:avLst>
              <a:gd name="adj" fmla="val 30000"/>
            </a:avLst>
          </a:prstGeom>
          <a:solidFill>
            <a:srgbClr val="FFFFFF"/>
          </a:solidFill>
          <a:ln w="12700">
            <a:solidFill>
              <a:srgbClr val="C7D2FE"/>
            </a:solidFill>
          </a:ln>
        </p:spPr>
        <p:txBody>
          <a:bodyPr wrap="square" lIns="127000" tIns="127000" rIns="127000" bIns="127000" rtlCol="0" anchor="ctr"/>
          <a:lstStyle/>
          <a:p>
            <a:pPr algn="l" indent="0" marL="0">
              <a:buNone/>
            </a:pPr>
            <a:r>
              <a:rPr lang="en-US" sz="1400" b="1" dirty="0">
                <a:solidFill>
                  <a:srgbClr val="1E1B4B"/>
                </a:solidFill>
                <a:latin typeface="Calibri" pitchFamily="34" charset="0"/>
                <a:ea typeface="Calibri" pitchFamily="34" charset="-122"/>
                <a:cs typeface="Calibri" pitchFamily="34" charset="-120"/>
              </a:rPr>
              <a:t>Time</a:t>
            </a:r>
            <a:endParaRPr lang="en-US" sz="1400" dirty="0"/>
          </a:p>
        </p:txBody>
      </p:sp>
      <p:sp>
        <p:nvSpPr>
          <p:cNvPr id="7" name="Text 5"/>
          <p:cNvSpPr txBox="1"/>
          <p:nvPr/>
        </p:nvSpPr>
        <p:spPr>
          <a:xfrm>
            <a:off x="457200" y="2798064"/>
            <a:ext cx="3931920" cy="365760"/>
          </a:xfrm>
          <a:prstGeom prst="roundRect">
            <a:avLst>
              <a:gd name="adj" fmla="val 30000"/>
            </a:avLst>
          </a:prstGeom>
          <a:solidFill>
            <a:srgbClr val="FFFFFF"/>
          </a:solidFill>
          <a:ln w="12700">
            <a:solidFill>
              <a:srgbClr val="C7D2FE"/>
            </a:solidFill>
          </a:ln>
        </p:spPr>
        <p:txBody>
          <a:bodyPr wrap="square" lIns="127000" tIns="127000" rIns="127000" bIns="127000" rtlCol="0" anchor="ctr"/>
          <a:lstStyle/>
          <a:p>
            <a:pPr algn="l" indent="0" marL="0">
              <a:buNone/>
            </a:pPr>
            <a:r>
              <a:rPr lang="en-US" sz="1400" b="1" dirty="0">
                <a:solidFill>
                  <a:srgbClr val="1E1B4B"/>
                </a:solidFill>
                <a:latin typeface="Calibri" pitchFamily="34" charset="0"/>
                <a:ea typeface="Calibri" pitchFamily="34" charset="-122"/>
                <a:cs typeface="Calibri" pitchFamily="34" charset="-120"/>
              </a:rPr>
              <a:t>Merchant</a:t>
            </a:r>
            <a:endParaRPr lang="en-US" sz="1400" dirty="0"/>
          </a:p>
        </p:txBody>
      </p:sp>
      <p:sp>
        <p:nvSpPr>
          <p:cNvPr id="8" name="Text 6"/>
          <p:cNvSpPr txBox="1"/>
          <p:nvPr/>
        </p:nvSpPr>
        <p:spPr>
          <a:xfrm>
            <a:off x="457200" y="3227832"/>
            <a:ext cx="3931920" cy="365760"/>
          </a:xfrm>
          <a:prstGeom prst="roundRect">
            <a:avLst>
              <a:gd name="adj" fmla="val 30000"/>
            </a:avLst>
          </a:prstGeom>
          <a:solidFill>
            <a:srgbClr val="FFFFFF"/>
          </a:solidFill>
          <a:ln w="12700">
            <a:solidFill>
              <a:srgbClr val="C7D2FE"/>
            </a:solidFill>
          </a:ln>
        </p:spPr>
        <p:txBody>
          <a:bodyPr wrap="square" lIns="127000" tIns="127000" rIns="127000" bIns="127000" rtlCol="0" anchor="ctr"/>
          <a:lstStyle/>
          <a:p>
            <a:pPr algn="l" indent="0" marL="0">
              <a:buNone/>
            </a:pPr>
            <a:r>
              <a:rPr lang="en-US" sz="1400" b="1" dirty="0">
                <a:solidFill>
                  <a:srgbClr val="1E1B4B"/>
                </a:solidFill>
                <a:latin typeface="Calibri" pitchFamily="34" charset="0"/>
                <a:ea typeface="Calibri" pitchFamily="34" charset="-122"/>
                <a:cs typeface="Calibri" pitchFamily="34" charset="-120"/>
              </a:rPr>
              <a:t>Device</a:t>
            </a:r>
            <a:endParaRPr lang="en-US" sz="1400" dirty="0"/>
          </a:p>
        </p:txBody>
      </p:sp>
      <p:sp>
        <p:nvSpPr>
          <p:cNvPr id="9" name="Text 7"/>
          <p:cNvSpPr txBox="1"/>
          <p:nvPr/>
        </p:nvSpPr>
        <p:spPr>
          <a:xfrm>
            <a:off x="4754880" y="1143000"/>
            <a:ext cx="393192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E1B4B"/>
                </a:solidFill>
                <a:latin typeface="Calibri" pitchFamily="34" charset="0"/>
                <a:ea typeface="Calibri" pitchFamily="34" charset="-122"/>
                <a:cs typeface="Calibri" pitchFamily="34" charset="-120"/>
              </a:rPr>
              <a:t>Real-world data has many features and complex patterns</a:t>
            </a:r>
            <a:endParaRPr lang="en-US" sz="1600" dirty="0"/>
          </a:p>
          <a:p>
            <a:pPr marL="342900" indent="-342900">
              <a:spcAft>
                <a:spcPts val="800"/>
              </a:spcAft>
              <a:buSzPct val="100000"/>
              <a:buChar char="•"/>
            </a:pPr>
            <a:r>
              <a:rPr lang="en-US" sz="1600" dirty="0">
                <a:solidFill>
                  <a:srgbClr val="1E1B4B"/>
                </a:solidFill>
                <a:latin typeface="Calibri" pitchFamily="34" charset="0"/>
                <a:ea typeface="Calibri" pitchFamily="34" charset="-122"/>
                <a:cs typeface="Calibri" pitchFamily="34" charset="-120"/>
              </a:rPr>
              <a:t>NICE learns the statistical distribution of the data</a:t>
            </a:r>
            <a:endParaRPr lang="en-US" sz="1600" dirty="0"/>
          </a:p>
          <a:p>
            <a:pPr marL="342900" indent="-342900">
              <a:spcAft>
                <a:spcPts val="800"/>
              </a:spcAft>
              <a:buSzPct val="100000"/>
              <a:buChar char="•"/>
            </a:pPr>
            <a:r>
              <a:rPr lang="en-US" sz="1600" dirty="0">
                <a:solidFill>
                  <a:srgbClr val="1E1B4B"/>
                </a:solidFill>
                <a:latin typeface="Calibri" pitchFamily="34" charset="0"/>
                <a:ea typeface="Calibri" pitchFamily="34" charset="-122"/>
                <a:cs typeface="Calibri" pitchFamily="34" charset="-120"/>
              </a:rPr>
              <a:t>It shows how likely or unusual a new sample is</a:t>
            </a:r>
            <a:endParaRPr lang="en-US" sz="1600" dirty="0"/>
          </a:p>
          <a:p>
            <a:pPr marL="342900" indent="-342900">
              <a:buSzPct val="100000"/>
              <a:buChar char="•"/>
            </a:pPr>
            <a:r>
              <a:rPr lang="en-US" sz="1600" dirty="0">
                <a:solidFill>
                  <a:srgbClr val="1E1B4B"/>
                </a:solidFill>
                <a:latin typeface="Calibri" pitchFamily="34" charset="0"/>
                <a:ea typeface="Calibri" pitchFamily="34" charset="-122"/>
                <a:cs typeface="Calibri" pitchFamily="34" charset="-120"/>
              </a:rPr>
              <a:t>It can also generate new, similar data</a:t>
            </a:r>
            <a:endParaRPr lang="en-US" sz="1600" dirty="0"/>
          </a:p>
        </p:txBody>
      </p:sp>
      <p:sp>
        <p:nvSpPr>
          <p:cNvPr id="10" name="Text 8"/>
          <p:cNvSpPr txBox="1"/>
          <p:nvPr/>
        </p:nvSpPr>
        <p:spPr>
          <a:xfrm>
            <a:off x="457200" y="3886200"/>
            <a:ext cx="2499360" cy="731520"/>
          </a:xfrm>
          <a:prstGeom prst="roundRect">
            <a:avLst>
              <a:gd name="adj" fmla="val 15000"/>
            </a:avLst>
          </a:prstGeom>
          <a:solidFill>
            <a:srgbClr val="2563EB"/>
          </a:solidFill>
          <a:ln/>
        </p:spPr>
        <p:txBody>
          <a:bodyPr wrap="square" lIns="50800" tIns="50800" rIns="50800" bIns="508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Complex Data</a:t>
            </a:r>
            <a:endParaRPr lang="en-US" sz="1500" dirty="0"/>
          </a:p>
        </p:txBody>
      </p:sp>
      <p:sp>
        <p:nvSpPr>
          <p:cNvPr id="11" name="Shape 9"/>
          <p:cNvSpPr/>
          <p:nvPr/>
        </p:nvSpPr>
        <p:spPr>
          <a:xfrm>
            <a:off x="2993136" y="4114800"/>
            <a:ext cx="292608" cy="274320"/>
          </a:xfrm>
          <a:prstGeom prst="rightArrow">
            <a:avLst/>
          </a:prstGeom>
          <a:solidFill>
            <a:srgbClr val="F59E0B"/>
          </a:solidFill>
          <a:ln w="12700">
            <a:solidFill>
              <a:srgbClr val="F59E0B"/>
            </a:solidFill>
            <a:prstDash val="solid"/>
          </a:ln>
        </p:spPr>
      </p:sp>
      <p:sp>
        <p:nvSpPr>
          <p:cNvPr id="12" name="Text 10"/>
          <p:cNvSpPr txBox="1"/>
          <p:nvPr/>
        </p:nvSpPr>
        <p:spPr>
          <a:xfrm>
            <a:off x="3322320" y="3886200"/>
            <a:ext cx="2499360" cy="731520"/>
          </a:xfrm>
          <a:prstGeom prst="roundRect">
            <a:avLst>
              <a:gd name="adj" fmla="val 15000"/>
            </a:avLst>
          </a:prstGeom>
          <a:solidFill>
            <a:srgbClr val="4F46E5"/>
          </a:solidFill>
          <a:ln/>
        </p:spPr>
        <p:txBody>
          <a:bodyPr wrap="square" lIns="50800" tIns="50800" rIns="50800" bIns="508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Learn Patterns</a:t>
            </a:r>
            <a:endParaRPr lang="en-US" sz="1500" dirty="0"/>
          </a:p>
        </p:txBody>
      </p:sp>
      <p:sp>
        <p:nvSpPr>
          <p:cNvPr id="13" name="Shape 11"/>
          <p:cNvSpPr/>
          <p:nvPr/>
        </p:nvSpPr>
        <p:spPr>
          <a:xfrm>
            <a:off x="5858256" y="4114800"/>
            <a:ext cx="292608" cy="274320"/>
          </a:xfrm>
          <a:prstGeom prst="rightArrow">
            <a:avLst/>
          </a:prstGeom>
          <a:solidFill>
            <a:srgbClr val="F59E0B"/>
          </a:solidFill>
          <a:ln w="12700">
            <a:solidFill>
              <a:srgbClr val="F59E0B"/>
            </a:solidFill>
            <a:prstDash val="solid"/>
          </a:ln>
        </p:spPr>
      </p:sp>
      <p:sp>
        <p:nvSpPr>
          <p:cNvPr id="14" name="Text 12"/>
          <p:cNvSpPr txBox="1"/>
          <p:nvPr/>
        </p:nvSpPr>
        <p:spPr>
          <a:xfrm>
            <a:off x="6187440" y="3886200"/>
            <a:ext cx="2499360" cy="731520"/>
          </a:xfrm>
          <a:prstGeom prst="roundRect">
            <a:avLst>
              <a:gd name="adj" fmla="val 15000"/>
            </a:avLst>
          </a:prstGeom>
          <a:solidFill>
            <a:srgbClr val="7C3AED"/>
          </a:solidFill>
          <a:ln/>
        </p:spPr>
        <p:txBody>
          <a:bodyPr wrap="square" lIns="50800" tIns="50800" rIns="50800" bIns="508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Understand / Generate Data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3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NICE for Banking Transaction Analysis</a:t>
            </a:r>
            <a:endParaRPr lang="en-US" sz="3000" dirty="0"/>
          </a:p>
        </p:txBody>
      </p:sp>
      <p:sp>
        <p:nvSpPr>
          <p:cNvPr id="3" name="Shape 1"/>
          <p:cNvSpPr/>
          <p:nvPr/>
        </p:nvSpPr>
        <p:spPr>
          <a:xfrm>
            <a:off x="457200" y="1143000"/>
            <a:ext cx="3931920" cy="1463040"/>
          </a:xfrm>
          <a:prstGeom prst="roundRect">
            <a:avLst>
              <a:gd name="adj" fmla="val 7500"/>
            </a:avLst>
          </a:prstGeom>
          <a:solidFill>
            <a:srgbClr val="FFFFFF"/>
          </a:solidFill>
          <a:ln w="12700">
            <a:solidFill>
              <a:srgbClr val="C7D2FE"/>
            </a:solidFill>
            <a:prstDash val="solid"/>
          </a:ln>
        </p:spPr>
      </p:sp>
      <p:sp>
        <p:nvSpPr>
          <p:cNvPr id="4" name="Text 2"/>
          <p:cNvSpPr txBox="1"/>
          <p:nvPr/>
        </p:nvSpPr>
        <p:spPr>
          <a:xfrm>
            <a:off x="640080" y="1234440"/>
            <a:ext cx="3566160" cy="1280160"/>
          </a:xfrm>
          <a:prstGeom prst="rect">
            <a:avLst/>
          </a:prstGeom>
          <a:noFill/>
          <a:ln/>
        </p:spPr>
        <p:txBody>
          <a:bodyPr wrap="square" lIns="0" tIns="0" rIns="0" bIns="0" rtlCol="0" anchor="t"/>
          <a:lstStyle/>
          <a:p>
            <a:pPr indent="0" marL="0">
              <a:spcAft>
                <a:spcPts val="400"/>
              </a:spcAft>
              <a:buNone/>
            </a:pPr>
            <a:r>
              <a:rPr lang="en-US" sz="1400" b="1" dirty="0">
                <a:solidFill>
                  <a:srgbClr val="2563EB"/>
                </a:solidFill>
                <a:latin typeface="Calibri" pitchFamily="34" charset="0"/>
                <a:ea typeface="Calibri" pitchFamily="34" charset="-122"/>
                <a:cs typeface="Calibri" pitchFamily="34" charset="-120"/>
              </a:rPr>
              <a:t>Normal historical transactions</a:t>
            </a:r>
            <a:endParaRPr lang="en-US" sz="1400" dirty="0"/>
          </a:p>
          <a:p>
            <a:pPr indent="0" marL="0">
              <a:buNone/>
            </a:pPr>
            <a:r>
              <a:rPr lang="en-US" sz="1400" dirty="0">
                <a:solidFill>
                  <a:srgbClr val="1E1B4B"/>
                </a:solidFill>
                <a:latin typeface="Calibri" pitchFamily="34" charset="0"/>
                <a:ea typeface="Calibri" pitchFamily="34" charset="-122"/>
                <a:cs typeface="Calibri" pitchFamily="34" charset="-120"/>
              </a:rPr>
              <a:t>₹500 – Bangalore – Mobile</a:t>
            </a:r>
            <a:endParaRPr lang="en-US" sz="1400" dirty="0"/>
          </a:p>
          <a:p>
            <a:pPr indent="0" marL="0">
              <a:buNone/>
            </a:pPr>
            <a:r>
              <a:rPr lang="en-US" sz="1400" dirty="0">
                <a:solidFill>
                  <a:srgbClr val="1E1B4B"/>
                </a:solidFill>
                <a:latin typeface="Calibri" pitchFamily="34" charset="0"/>
                <a:ea typeface="Calibri" pitchFamily="34" charset="-122"/>
                <a:cs typeface="Calibri" pitchFamily="34" charset="-120"/>
              </a:rPr>
              <a:t>₹800 – Bangalore – Mobile</a:t>
            </a:r>
            <a:endParaRPr lang="en-US" sz="1400" dirty="0"/>
          </a:p>
          <a:p>
            <a:pPr indent="0" marL="0">
              <a:buNone/>
            </a:pPr>
            <a:r>
              <a:rPr lang="en-US" sz="1400" dirty="0">
                <a:solidFill>
                  <a:srgbClr val="1E1B4B"/>
                </a:solidFill>
                <a:latin typeface="Calibri" pitchFamily="34" charset="0"/>
                <a:ea typeface="Calibri" pitchFamily="34" charset="-122"/>
                <a:cs typeface="Calibri" pitchFamily="34" charset="-120"/>
              </a:rPr>
              <a:t>₹1,200 – Bangalore – Laptop</a:t>
            </a:r>
            <a:endParaRPr lang="en-US" sz="1400" dirty="0"/>
          </a:p>
        </p:txBody>
      </p:sp>
      <p:sp>
        <p:nvSpPr>
          <p:cNvPr id="5" name="Shape 3"/>
          <p:cNvSpPr/>
          <p:nvPr/>
        </p:nvSpPr>
        <p:spPr>
          <a:xfrm>
            <a:off x="4754880" y="1143000"/>
            <a:ext cx="3931920" cy="1463040"/>
          </a:xfrm>
          <a:prstGeom prst="roundRect">
            <a:avLst>
              <a:gd name="adj" fmla="val 7500"/>
            </a:avLst>
          </a:prstGeom>
          <a:solidFill>
            <a:srgbClr val="FEF3C7"/>
          </a:solidFill>
          <a:ln w="25400">
            <a:solidFill>
              <a:srgbClr val="F59E0B"/>
            </a:solidFill>
            <a:prstDash val="solid"/>
          </a:ln>
        </p:spPr>
      </p:sp>
      <p:sp>
        <p:nvSpPr>
          <p:cNvPr id="6" name="Text 4"/>
          <p:cNvSpPr txBox="1"/>
          <p:nvPr/>
        </p:nvSpPr>
        <p:spPr>
          <a:xfrm>
            <a:off x="4937760" y="1234440"/>
            <a:ext cx="3566160" cy="1280160"/>
          </a:xfrm>
          <a:prstGeom prst="rect">
            <a:avLst/>
          </a:prstGeom>
          <a:noFill/>
          <a:ln/>
        </p:spPr>
        <p:txBody>
          <a:bodyPr wrap="square" lIns="0" tIns="0" rIns="0" bIns="0" rtlCol="0" anchor="t"/>
          <a:lstStyle/>
          <a:p>
            <a:pPr indent="0" marL="0">
              <a:spcAft>
                <a:spcPts val="400"/>
              </a:spcAft>
              <a:buNone/>
            </a:pPr>
            <a:r>
              <a:rPr lang="en-US" sz="1400" b="1" dirty="0">
                <a:solidFill>
                  <a:srgbClr val="B45309"/>
                </a:solidFill>
                <a:latin typeface="Calibri" pitchFamily="34" charset="0"/>
                <a:ea typeface="Calibri" pitchFamily="34" charset="-122"/>
                <a:cs typeface="Calibri" pitchFamily="34" charset="-120"/>
              </a:rPr>
              <a:t>New transaction</a:t>
            </a:r>
            <a:endParaRPr lang="en-US" sz="1400" dirty="0"/>
          </a:p>
          <a:p>
            <a:pPr indent="0" marL="0">
              <a:buNone/>
            </a:pPr>
            <a:r>
              <a:rPr lang="en-US" sz="2200" b="1" dirty="0">
                <a:solidFill>
                  <a:srgbClr val="1E1B4B"/>
                </a:solidFill>
                <a:latin typeface="Calibri" pitchFamily="34" charset="0"/>
                <a:ea typeface="Calibri" pitchFamily="34" charset="-122"/>
                <a:cs typeface="Calibri" pitchFamily="34" charset="-120"/>
              </a:rPr>
              <a:t>₹2,00,000</a:t>
            </a:r>
            <a:endParaRPr lang="en-US" sz="1400" dirty="0"/>
          </a:p>
          <a:p>
            <a:pPr indent="0" marL="0">
              <a:buNone/>
            </a:pPr>
            <a:r>
              <a:rPr lang="en-US" sz="1400" dirty="0">
                <a:solidFill>
                  <a:srgbClr val="1E1B4B"/>
                </a:solidFill>
                <a:latin typeface="Calibri" pitchFamily="34" charset="0"/>
                <a:ea typeface="Calibri" pitchFamily="34" charset="-122"/>
                <a:cs typeface="Calibri" pitchFamily="34" charset="-120"/>
              </a:rPr>
              <a:t>New Location – New Device – Unusual Time</a:t>
            </a:r>
            <a:endParaRPr lang="en-US" sz="1400" dirty="0"/>
          </a:p>
        </p:txBody>
      </p:sp>
      <p:sp>
        <p:nvSpPr>
          <p:cNvPr id="7" name="Text 5"/>
          <p:cNvSpPr txBox="1"/>
          <p:nvPr/>
        </p:nvSpPr>
        <p:spPr>
          <a:xfrm>
            <a:off x="457200" y="2834640"/>
            <a:ext cx="1353312" cy="822960"/>
          </a:xfrm>
          <a:prstGeom prst="roundRect">
            <a:avLst>
              <a:gd name="adj" fmla="val 13333"/>
            </a:avLst>
          </a:prstGeom>
          <a:solidFill>
            <a:srgbClr val="2563EB"/>
          </a:solid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Historical Transactions</a:t>
            </a:r>
            <a:endParaRPr lang="en-US" sz="1300" dirty="0"/>
          </a:p>
        </p:txBody>
      </p:sp>
      <p:sp>
        <p:nvSpPr>
          <p:cNvPr id="8" name="Shape 6"/>
          <p:cNvSpPr/>
          <p:nvPr/>
        </p:nvSpPr>
        <p:spPr>
          <a:xfrm>
            <a:off x="1847088" y="3108960"/>
            <a:ext cx="292608" cy="274320"/>
          </a:xfrm>
          <a:prstGeom prst="rightArrow">
            <a:avLst/>
          </a:prstGeom>
          <a:solidFill>
            <a:srgbClr val="4F46E5"/>
          </a:solidFill>
          <a:ln w="12700">
            <a:solidFill>
              <a:srgbClr val="4F46E5"/>
            </a:solidFill>
            <a:prstDash val="solid"/>
          </a:ln>
        </p:spPr>
      </p:sp>
      <p:sp>
        <p:nvSpPr>
          <p:cNvPr id="9" name="Text 7"/>
          <p:cNvSpPr txBox="1"/>
          <p:nvPr/>
        </p:nvSpPr>
        <p:spPr>
          <a:xfrm>
            <a:off x="2176272" y="2834640"/>
            <a:ext cx="1353312" cy="822960"/>
          </a:xfrm>
          <a:prstGeom prst="roundRect">
            <a:avLst>
              <a:gd name="adj" fmla="val 13333"/>
            </a:avLst>
          </a:prstGeom>
          <a:solidFill>
            <a:srgbClr val="4F46E5"/>
          </a:solid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NICE Learns Distribution</a:t>
            </a:r>
            <a:endParaRPr lang="en-US" sz="1300" dirty="0"/>
          </a:p>
        </p:txBody>
      </p:sp>
      <p:sp>
        <p:nvSpPr>
          <p:cNvPr id="10" name="Shape 8"/>
          <p:cNvSpPr/>
          <p:nvPr/>
        </p:nvSpPr>
        <p:spPr>
          <a:xfrm>
            <a:off x="3566160" y="3108960"/>
            <a:ext cx="292608" cy="274320"/>
          </a:xfrm>
          <a:prstGeom prst="rightArrow">
            <a:avLst/>
          </a:prstGeom>
          <a:solidFill>
            <a:srgbClr val="4F46E5"/>
          </a:solidFill>
          <a:ln w="12700">
            <a:solidFill>
              <a:srgbClr val="4F46E5"/>
            </a:solidFill>
            <a:prstDash val="solid"/>
          </a:ln>
        </p:spPr>
      </p:sp>
      <p:sp>
        <p:nvSpPr>
          <p:cNvPr id="11" name="Text 9"/>
          <p:cNvSpPr txBox="1"/>
          <p:nvPr/>
        </p:nvSpPr>
        <p:spPr>
          <a:xfrm>
            <a:off x="3895344" y="2834640"/>
            <a:ext cx="1353312" cy="822960"/>
          </a:xfrm>
          <a:prstGeom prst="roundRect">
            <a:avLst>
              <a:gd name="adj" fmla="val 13333"/>
            </a:avLst>
          </a:prstGeom>
          <a:solidFill>
            <a:srgbClr val="7C3AED"/>
          </a:solid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New Transaction</a:t>
            </a:r>
            <a:endParaRPr lang="en-US" sz="1300" dirty="0"/>
          </a:p>
        </p:txBody>
      </p:sp>
      <p:sp>
        <p:nvSpPr>
          <p:cNvPr id="12" name="Shape 10"/>
          <p:cNvSpPr/>
          <p:nvPr/>
        </p:nvSpPr>
        <p:spPr>
          <a:xfrm>
            <a:off x="5285232" y="3108960"/>
            <a:ext cx="292608" cy="274320"/>
          </a:xfrm>
          <a:prstGeom prst="rightArrow">
            <a:avLst/>
          </a:prstGeom>
          <a:solidFill>
            <a:srgbClr val="4F46E5"/>
          </a:solidFill>
          <a:ln w="12700">
            <a:solidFill>
              <a:srgbClr val="4F46E5"/>
            </a:solidFill>
            <a:prstDash val="solid"/>
          </a:ln>
        </p:spPr>
      </p:sp>
      <p:sp>
        <p:nvSpPr>
          <p:cNvPr id="13" name="Text 11"/>
          <p:cNvSpPr txBox="1"/>
          <p:nvPr/>
        </p:nvSpPr>
        <p:spPr>
          <a:xfrm>
            <a:off x="5614416" y="2834640"/>
            <a:ext cx="1353312" cy="822960"/>
          </a:xfrm>
          <a:prstGeom prst="roundRect">
            <a:avLst>
              <a:gd name="adj" fmla="val 13333"/>
            </a:avLst>
          </a:prstGeom>
          <a:solidFill>
            <a:srgbClr val="7C3AED"/>
          </a:solid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Unusual?</a:t>
            </a:r>
            <a:endParaRPr lang="en-US" sz="1300" dirty="0"/>
          </a:p>
        </p:txBody>
      </p:sp>
      <p:sp>
        <p:nvSpPr>
          <p:cNvPr id="14" name="Shape 12"/>
          <p:cNvSpPr/>
          <p:nvPr/>
        </p:nvSpPr>
        <p:spPr>
          <a:xfrm>
            <a:off x="7004304" y="3108960"/>
            <a:ext cx="292608" cy="274320"/>
          </a:xfrm>
          <a:prstGeom prst="rightArrow">
            <a:avLst/>
          </a:prstGeom>
          <a:solidFill>
            <a:srgbClr val="4F46E5"/>
          </a:solidFill>
          <a:ln w="12700">
            <a:solidFill>
              <a:srgbClr val="4F46E5"/>
            </a:solidFill>
            <a:prstDash val="solid"/>
          </a:ln>
        </p:spPr>
      </p:sp>
      <p:sp>
        <p:nvSpPr>
          <p:cNvPr id="15" name="Text 13"/>
          <p:cNvSpPr txBox="1"/>
          <p:nvPr/>
        </p:nvSpPr>
        <p:spPr>
          <a:xfrm>
            <a:off x="7333488" y="2834640"/>
            <a:ext cx="1353312" cy="822960"/>
          </a:xfrm>
          <a:prstGeom prst="roundRect">
            <a:avLst>
              <a:gd name="adj" fmla="val 13333"/>
            </a:avLst>
          </a:prstGeom>
          <a:solidFill>
            <a:srgbClr val="F59E0B"/>
          </a:solidFill>
          <a:ln/>
        </p:spPr>
        <p:txBody>
          <a:bodyPr wrap="square" lIns="50800" tIns="50800" rIns="50800" bIns="50800" rtlCol="0" anchor="ctr"/>
          <a:lstStyle/>
          <a:p>
            <a:pPr algn="ctr" indent="0" marL="0">
              <a:buNone/>
            </a:pPr>
            <a:r>
              <a:rPr lang="en-US" sz="1300" b="1" dirty="0">
                <a:solidFill>
                  <a:srgbClr val="1E1B4B"/>
                </a:solidFill>
                <a:latin typeface="Calibri" pitchFamily="34" charset="0"/>
                <a:ea typeface="Calibri" pitchFamily="34" charset="-122"/>
                <a:cs typeface="Calibri" pitchFamily="34" charset="-120"/>
              </a:rPr>
              <a:t>Flag for Investigation</a:t>
            </a:r>
            <a:endParaRPr lang="en-US" sz="1300" dirty="0"/>
          </a:p>
        </p:txBody>
      </p:sp>
      <p:sp>
        <p:nvSpPr>
          <p:cNvPr id="16" name="Shape 14"/>
          <p:cNvSpPr/>
          <p:nvPr/>
        </p:nvSpPr>
        <p:spPr>
          <a:xfrm>
            <a:off x="457200" y="3886200"/>
            <a:ext cx="8229600" cy="822960"/>
          </a:xfrm>
          <a:prstGeom prst="roundRect">
            <a:avLst>
              <a:gd name="adj" fmla="val 13333"/>
            </a:avLst>
          </a:prstGeom>
          <a:solidFill>
            <a:srgbClr val="FFFFFF"/>
          </a:solidFill>
          <a:ln w="12700">
            <a:solidFill>
              <a:srgbClr val="C7D2FE"/>
            </a:solidFill>
            <a:prstDash val="solid"/>
          </a:ln>
        </p:spPr>
      </p:sp>
      <p:sp>
        <p:nvSpPr>
          <p:cNvPr id="17" name="Text 15"/>
          <p:cNvSpPr txBox="1"/>
          <p:nvPr/>
        </p:nvSpPr>
        <p:spPr>
          <a:xfrm>
            <a:off x="640080" y="3931920"/>
            <a:ext cx="7863840" cy="731520"/>
          </a:xfrm>
          <a:prstGeom prst="rect">
            <a:avLst/>
          </a:prstGeom>
          <a:noFill/>
          <a:ln/>
        </p:spPr>
        <p:txBody>
          <a:bodyPr wrap="square" lIns="0" tIns="0" rIns="0" bIns="0" rtlCol="0" anchor="ctr"/>
          <a:lstStyle/>
          <a:p>
            <a:pPr indent="0" marL="0">
              <a:buNone/>
            </a:pPr>
            <a:r>
              <a:rPr lang="en-US" sz="1400" dirty="0">
                <a:solidFill>
                  <a:srgbClr val="1E1B4B"/>
                </a:solidFill>
                <a:latin typeface="Calibri" pitchFamily="34" charset="0"/>
                <a:ea typeface="Calibri" pitchFamily="34" charset="-122"/>
                <a:cs typeface="Calibri" pitchFamily="34" charset="-120"/>
              </a:rPr>
              <a:t>NICE checks how well the new transaction fits the learned distribution. If it is highly unusual, it is flagged for further investigation. </a:t>
            </a:r>
            <a:pPr indent="0" marL="0">
              <a:buNone/>
            </a:pPr>
            <a:r>
              <a:rPr lang="en-US" sz="1400" b="1" dirty="0">
                <a:solidFill>
                  <a:srgbClr val="B45309"/>
                </a:solidFill>
                <a:latin typeface="Calibri" pitchFamily="34" charset="0"/>
                <a:ea typeface="Calibri" pitchFamily="34" charset="-122"/>
                <a:cs typeface="Calibri" pitchFamily="34" charset="-120"/>
              </a:rPr>
              <a:t>NICE does not decide on its own that it is fraud.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Applications and Conclusion</a:t>
            </a:r>
            <a:endParaRPr lang="en-US" sz="3200" dirty="0"/>
          </a:p>
        </p:txBody>
      </p:sp>
      <p:sp>
        <p:nvSpPr>
          <p:cNvPr id="3" name="Shape 1"/>
          <p:cNvSpPr/>
          <p:nvPr/>
        </p:nvSpPr>
        <p:spPr>
          <a:xfrm>
            <a:off x="457200" y="1280160"/>
            <a:ext cx="292608" cy="292608"/>
          </a:xfrm>
          <a:prstGeom prst="ellipse">
            <a:avLst/>
          </a:prstGeom>
          <a:solidFill>
            <a:srgbClr val="3B82F6"/>
          </a:solidFill>
          <a:ln w="12700">
            <a:solidFill>
              <a:srgbClr val="C7D2FE"/>
            </a:solidFill>
            <a:prstDash val="solid"/>
          </a:ln>
        </p:spPr>
      </p:sp>
      <p:sp>
        <p:nvSpPr>
          <p:cNvPr id="4" name="Text 2"/>
          <p:cNvSpPr txBox="1"/>
          <p:nvPr/>
        </p:nvSpPr>
        <p:spPr>
          <a:xfrm>
            <a:off x="914400" y="1188720"/>
            <a:ext cx="438912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Banking</a:t>
            </a:r>
            <a:pPr indent="0" marL="0">
              <a:buNone/>
            </a:pPr>
            <a:r>
              <a:rPr lang="en-US" sz="1400" dirty="0">
                <a:solidFill>
                  <a:srgbClr val="C7D2FE"/>
                </a:solidFill>
                <a:latin typeface="Calibri" pitchFamily="34" charset="0"/>
                <a:ea typeface="Calibri" pitchFamily="34" charset="-122"/>
                <a:cs typeface="Calibri" pitchFamily="34" charset="-120"/>
              </a:rPr>
              <a:t> – anomaly detection and transaction modeling</a:t>
            </a:r>
            <a:endParaRPr lang="en-US" sz="1400" dirty="0"/>
          </a:p>
        </p:txBody>
      </p:sp>
      <p:sp>
        <p:nvSpPr>
          <p:cNvPr id="5" name="Shape 3"/>
          <p:cNvSpPr/>
          <p:nvPr/>
        </p:nvSpPr>
        <p:spPr>
          <a:xfrm>
            <a:off x="457200" y="1901952"/>
            <a:ext cx="292608" cy="292608"/>
          </a:xfrm>
          <a:prstGeom prst="ellipse">
            <a:avLst/>
          </a:prstGeom>
          <a:solidFill>
            <a:srgbClr val="6366F1"/>
          </a:solidFill>
          <a:ln w="12700">
            <a:solidFill>
              <a:srgbClr val="C7D2FE"/>
            </a:solidFill>
            <a:prstDash val="solid"/>
          </a:ln>
        </p:spPr>
      </p:sp>
      <p:sp>
        <p:nvSpPr>
          <p:cNvPr id="6" name="Text 4"/>
          <p:cNvSpPr txBox="1"/>
          <p:nvPr/>
        </p:nvSpPr>
        <p:spPr>
          <a:xfrm>
            <a:off x="914400" y="1810512"/>
            <a:ext cx="438912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Healthcare</a:t>
            </a:r>
            <a:pPr indent="0" marL="0">
              <a:buNone/>
            </a:pPr>
            <a:r>
              <a:rPr lang="en-US" sz="1400" dirty="0">
                <a:solidFill>
                  <a:srgbClr val="C7D2FE"/>
                </a:solidFill>
                <a:latin typeface="Calibri" pitchFamily="34" charset="0"/>
                <a:ea typeface="Calibri" pitchFamily="34" charset="-122"/>
                <a:cs typeface="Calibri" pitchFamily="34" charset="-120"/>
              </a:rPr>
              <a:t> – medical data modeling and research</a:t>
            </a:r>
            <a:endParaRPr lang="en-US" sz="1400" dirty="0"/>
          </a:p>
        </p:txBody>
      </p:sp>
      <p:sp>
        <p:nvSpPr>
          <p:cNvPr id="7" name="Shape 5"/>
          <p:cNvSpPr/>
          <p:nvPr/>
        </p:nvSpPr>
        <p:spPr>
          <a:xfrm>
            <a:off x="457200" y="2523744"/>
            <a:ext cx="292608" cy="292608"/>
          </a:xfrm>
          <a:prstGeom prst="ellipse">
            <a:avLst/>
          </a:prstGeom>
          <a:solidFill>
            <a:srgbClr val="8B5CF6"/>
          </a:solidFill>
          <a:ln w="12700">
            <a:solidFill>
              <a:srgbClr val="C7D2FE"/>
            </a:solidFill>
            <a:prstDash val="solid"/>
          </a:ln>
        </p:spPr>
      </p:sp>
      <p:sp>
        <p:nvSpPr>
          <p:cNvPr id="8" name="Text 6"/>
          <p:cNvSpPr txBox="1"/>
          <p:nvPr/>
        </p:nvSpPr>
        <p:spPr>
          <a:xfrm>
            <a:off x="914400" y="2432304"/>
            <a:ext cx="438912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Manufacturing</a:t>
            </a:r>
            <a:pPr indent="0" marL="0">
              <a:buNone/>
            </a:pPr>
            <a:r>
              <a:rPr lang="en-US" sz="1400" dirty="0">
                <a:solidFill>
                  <a:srgbClr val="C7D2FE"/>
                </a:solidFill>
                <a:latin typeface="Calibri" pitchFamily="34" charset="0"/>
                <a:ea typeface="Calibri" pitchFamily="34" charset="-122"/>
                <a:cs typeface="Calibri" pitchFamily="34" charset="-120"/>
              </a:rPr>
              <a:t> – detecting unusual data</a:t>
            </a:r>
            <a:endParaRPr lang="en-US" sz="1400" dirty="0"/>
          </a:p>
        </p:txBody>
      </p:sp>
      <p:sp>
        <p:nvSpPr>
          <p:cNvPr id="9" name="Shape 7"/>
          <p:cNvSpPr/>
          <p:nvPr/>
        </p:nvSpPr>
        <p:spPr>
          <a:xfrm>
            <a:off x="457200" y="3145536"/>
            <a:ext cx="292608" cy="292608"/>
          </a:xfrm>
          <a:prstGeom prst="ellipse">
            <a:avLst/>
          </a:prstGeom>
          <a:solidFill>
            <a:srgbClr val="3B82F6"/>
          </a:solidFill>
          <a:ln w="12700">
            <a:solidFill>
              <a:srgbClr val="C7D2FE"/>
            </a:solidFill>
            <a:prstDash val="solid"/>
          </a:ln>
        </p:spPr>
      </p:sp>
      <p:sp>
        <p:nvSpPr>
          <p:cNvPr id="10" name="Text 8"/>
          <p:cNvSpPr txBox="1"/>
          <p:nvPr/>
        </p:nvSpPr>
        <p:spPr>
          <a:xfrm>
            <a:off x="914400" y="3054096"/>
            <a:ext cx="438912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Computer Vision</a:t>
            </a:r>
            <a:pPr indent="0" marL="0">
              <a:buNone/>
            </a:pPr>
            <a:r>
              <a:rPr lang="en-US" sz="1400" dirty="0">
                <a:solidFill>
                  <a:srgbClr val="C7D2FE"/>
                </a:solidFill>
                <a:latin typeface="Calibri" pitchFamily="34" charset="0"/>
                <a:ea typeface="Calibri" pitchFamily="34" charset="-122"/>
                <a:cs typeface="Calibri" pitchFamily="34" charset="-120"/>
              </a:rPr>
              <a:t> – image / data generation</a:t>
            </a:r>
            <a:endParaRPr lang="en-US" sz="1400" dirty="0"/>
          </a:p>
        </p:txBody>
      </p:sp>
      <p:sp>
        <p:nvSpPr>
          <p:cNvPr id="11" name="Shape 9"/>
          <p:cNvSpPr/>
          <p:nvPr/>
        </p:nvSpPr>
        <p:spPr>
          <a:xfrm>
            <a:off x="457200" y="3767328"/>
            <a:ext cx="292608" cy="292608"/>
          </a:xfrm>
          <a:prstGeom prst="ellipse">
            <a:avLst/>
          </a:prstGeom>
          <a:solidFill>
            <a:srgbClr val="6366F1"/>
          </a:solidFill>
          <a:ln w="12700">
            <a:solidFill>
              <a:srgbClr val="C7D2FE"/>
            </a:solidFill>
            <a:prstDash val="solid"/>
          </a:ln>
        </p:spPr>
      </p:sp>
      <p:sp>
        <p:nvSpPr>
          <p:cNvPr id="12" name="Text 10"/>
          <p:cNvSpPr txBox="1"/>
          <p:nvPr/>
        </p:nvSpPr>
        <p:spPr>
          <a:xfrm>
            <a:off x="914400" y="3675888"/>
            <a:ext cx="438912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Generative AI</a:t>
            </a:r>
            <a:pPr indent="0" marL="0">
              <a:buNone/>
            </a:pPr>
            <a:r>
              <a:rPr lang="en-US" sz="1400" dirty="0">
                <a:solidFill>
                  <a:srgbClr val="C7D2FE"/>
                </a:solidFill>
                <a:latin typeface="Calibri" pitchFamily="34" charset="0"/>
                <a:ea typeface="Calibri" pitchFamily="34" charset="-122"/>
                <a:cs typeface="Calibri" pitchFamily="34" charset="-120"/>
              </a:rPr>
              <a:t> – modeling and generating data</a:t>
            </a:r>
            <a:endParaRPr lang="en-US" sz="1400" dirty="0"/>
          </a:p>
        </p:txBody>
      </p:sp>
      <p:sp>
        <p:nvSpPr>
          <p:cNvPr id="13" name="Shape 11"/>
          <p:cNvSpPr/>
          <p:nvPr/>
        </p:nvSpPr>
        <p:spPr>
          <a:xfrm>
            <a:off x="5486400" y="1188720"/>
            <a:ext cx="3200400" cy="2697480"/>
          </a:xfrm>
          <a:prstGeom prst="roundRect">
            <a:avLst>
              <a:gd name="adj" fmla="val 4068"/>
            </a:avLst>
          </a:prstGeom>
          <a:solidFill>
            <a:srgbClr val="1E2A78"/>
          </a:solidFill>
          <a:ln w="12700">
            <a:solidFill>
              <a:srgbClr val="1E2A78"/>
            </a:solidFill>
            <a:prstDash val="solid"/>
          </a:ln>
        </p:spPr>
      </p:sp>
      <p:sp>
        <p:nvSpPr>
          <p:cNvPr id="14" name="Text 12"/>
          <p:cNvSpPr txBox="1"/>
          <p:nvPr/>
        </p:nvSpPr>
        <p:spPr>
          <a:xfrm>
            <a:off x="5669280" y="1280160"/>
            <a:ext cx="2834640" cy="2514600"/>
          </a:xfrm>
          <a:prstGeom prst="rect">
            <a:avLst/>
          </a:prstGeom>
          <a:noFill/>
          <a:ln/>
        </p:spPr>
        <p:txBody>
          <a:bodyPr wrap="square" lIns="0" tIns="0" rIns="0" bIns="0" rtlCol="0" anchor="t"/>
          <a:lstStyle/>
          <a:p>
            <a:pPr indent="0" marL="0">
              <a:spcAft>
                <a:spcPts val="600"/>
              </a:spcAft>
              <a:buNone/>
            </a:pPr>
            <a:r>
              <a:rPr lang="en-US" sz="1800" b="1" dirty="0">
                <a:solidFill>
                  <a:srgbClr val="F59E0B"/>
                </a:solidFill>
                <a:latin typeface="Calibri" pitchFamily="34" charset="0"/>
                <a:ea typeface="Calibri" pitchFamily="34" charset="-122"/>
                <a:cs typeface="Calibri" pitchFamily="34" charset="-120"/>
              </a:rPr>
              <a:t>Conclusion</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NICE learns complex data distributions using reversible transformations. It converts complex data into a simpler representation and can transform it back, making it useful for data modeling, analysis, anomaly detection, and generation.</a:t>
            </a:r>
            <a:endParaRPr lang="en-US" sz="1300" dirty="0"/>
          </a:p>
        </p:txBody>
      </p:sp>
      <p:sp>
        <p:nvSpPr>
          <p:cNvPr id="15" name="Text 13"/>
          <p:cNvSpPr txBox="1"/>
          <p:nvPr/>
        </p:nvSpPr>
        <p:spPr>
          <a:xfrm>
            <a:off x="5486400" y="4069080"/>
            <a:ext cx="3200400" cy="640080"/>
          </a:xfrm>
          <a:prstGeom prst="roundRect">
            <a:avLst>
              <a:gd name="adj" fmla="val 17143"/>
            </a:avLst>
          </a:prstGeom>
          <a:solidFill>
            <a:srgbClr val="F59E0B"/>
          </a:solidFill>
          <a:ln/>
        </p:spPr>
        <p:txBody>
          <a:bodyPr wrap="square" lIns="50800" tIns="50800" rIns="50800" bIns="50800" rtlCol="0" anchor="ctr"/>
          <a:lstStyle/>
          <a:p>
            <a:pPr algn="ctr" indent="0" marL="0">
              <a:buNone/>
            </a:pPr>
            <a:r>
              <a:rPr lang="en-US" sz="2600" b="1" dirty="0">
                <a:solidFill>
                  <a:srgbClr val="1E1B4B"/>
                </a:solidFill>
                <a:latin typeface="Calibri" pitchFamily="34" charset="0"/>
                <a:ea typeface="Calibri" pitchFamily="34" charset="-122"/>
                <a:cs typeface="Calibri" pitchFamily="34" charset="-120"/>
              </a:rPr>
              <a:t>Thank You</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NICE – Non-linear Independent Components Estimation</dc:title>
  <dc:subject>PptxGenJS Presentation</dc:subject>
  <dc:creator>PptxGenJS</dc:creator>
  <cp:lastModifiedBy>PptxGenJS</cp:lastModifiedBy>
  <cp:revision>1</cp:revision>
  <dcterms:created xsi:type="dcterms:W3CDTF">2026-09-24T02:11:07Z</dcterms:created>
  <dcterms:modified xsi:type="dcterms:W3CDTF">2026-09-24T02:11:07Z</dcterms:modified>
</cp:coreProperties>
</file>